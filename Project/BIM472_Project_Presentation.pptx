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Klein" charset="1" panose="02000503060000020004"/>
      <p:regular r:id="rId19"/>
    </p:embeddedFont>
    <p:embeddedFont>
      <p:font typeface="Arimo" charset="1" panose="020B0604020202020204"/>
      <p:regular r:id="rId20"/>
    </p:embeddedFont>
    <p:embeddedFont>
      <p:font typeface="TT Trailers" charset="1" panose="02000508070000020004"/>
      <p:regular r:id="rId21"/>
    </p:embeddedFont>
    <p:embeddedFont>
      <p:font typeface="Klein Bold" charset="1" panose="020005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977634" y="1028700"/>
            <a:ext cx="77398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273539" y="5706491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8"/>
                </a:lnTo>
                <a:lnTo>
                  <a:pt x="11148085" y="4914448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6528" y="0"/>
            <a:ext cx="10162107" cy="11085935"/>
          </a:xfrm>
          <a:custGeom>
            <a:avLst/>
            <a:gdLst/>
            <a:ahLst/>
            <a:cxnLst/>
            <a:rect r="r" b="b" t="t" l="l"/>
            <a:pathLst>
              <a:path h="11085935" w="10162107">
                <a:moveTo>
                  <a:pt x="0" y="0"/>
                </a:moveTo>
                <a:lnTo>
                  <a:pt x="10162108" y="0"/>
                </a:lnTo>
                <a:lnTo>
                  <a:pt x="10162108" y="11085935"/>
                </a:lnTo>
                <a:lnTo>
                  <a:pt x="0" y="1108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5924" y="6207458"/>
            <a:ext cx="6244839" cy="195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BIM472 IMAGE PROCESSING — PROJECT 2</a:t>
            </a: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ÇAĞDAŞ KAPLAN</a:t>
            </a: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MERT CAN KALINLIOĞLU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33811"/>
            <a:ext cx="12177255" cy="205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4"/>
              </a:lnSpc>
            </a:pPr>
            <a:r>
              <a:rPr lang="en-US" sz="18792" spc="-375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OPTIC DISC &amp; FOVEA LOCALIZATION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03973" y="1099148"/>
            <a:ext cx="80760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86734" y="1632796"/>
            <a:ext cx="7444268" cy="7625504"/>
            <a:chOff x="0" y="0"/>
            <a:chExt cx="2086610" cy="21374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540" y="-305"/>
              <a:ext cx="2087880" cy="2136013"/>
            </a:xfrm>
            <a:custGeom>
              <a:avLst/>
              <a:gdLst/>
              <a:ahLst/>
              <a:cxnLst/>
              <a:rect r="r" b="b" t="t" l="l"/>
              <a:pathLst>
                <a:path h="2136013" w="2087880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2"/>
              <a:stretch>
                <a:fillRect l="-43143" t="0" r="-3863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403973" y="956273"/>
            <a:ext cx="8076062" cy="339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2"/>
              </a:lnSpc>
            </a:pPr>
            <a:r>
              <a:rPr lang="en-US" sz="8342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Main goal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Detect optic disc center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Segment optic disc region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Locate fovea center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Compare predictions with ground truth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3973" y="4425269"/>
            <a:ext cx="8076062" cy="483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2"/>
              </a:lnSpc>
            </a:pPr>
            <a:r>
              <a:rPr lang="en-US" sz="8342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Why these landmarks?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</a:t>
            </a: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ey are basic anatomical reference points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They help define retinal regions of interest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</a:t>
            </a: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ey support later diagnosis-oriented processing</a:t>
            </a:r>
          </a:p>
          <a:p>
            <a:pPr algn="l" marL="600369" indent="-300184" lvl="1">
              <a:lnSpc>
                <a:spcPts val="3837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They make algorithm outputs measurable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30241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90262" y="2330241"/>
            <a:ext cx="3882328" cy="935260"/>
            <a:chOff x="0" y="0"/>
            <a:chExt cx="1022477" cy="2463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007A3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22477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sz="2182" spc="-43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01 - INPUT IMAGE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657350"/>
            <a:ext cx="5215450" cy="16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14699" spc="-293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End to End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90262" y="3413664"/>
            <a:ext cx="3882328" cy="935260"/>
            <a:chOff x="0" y="0"/>
            <a:chExt cx="1022477" cy="246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11676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22477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sz="2182" spc="-43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02 - PREPROCESSING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90262" y="4501324"/>
            <a:ext cx="3882328" cy="935260"/>
            <a:chOff x="0" y="0"/>
            <a:chExt cx="1022477" cy="2463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004E7A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22477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sz="2182" spc="-43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03 - OD DETECTION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90262" y="5588984"/>
            <a:ext cx="3882328" cy="935260"/>
            <a:chOff x="0" y="0"/>
            <a:chExt cx="1022477" cy="2463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7A62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22477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sz="2182" spc="-43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04 - OD SEGMENTATION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90262" y="6676644"/>
            <a:ext cx="3882328" cy="935260"/>
            <a:chOff x="0" y="0"/>
            <a:chExt cx="1022477" cy="246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004E7A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22477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4"/>
                </a:lnSpc>
              </a:pPr>
              <a:r>
                <a:rPr lang="en-US" sz="2182" spc="-43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05 - FOVEA LOCALIZATION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90262" y="7764303"/>
            <a:ext cx="3882328" cy="935260"/>
            <a:chOff x="0" y="0"/>
            <a:chExt cx="1022477" cy="2463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2477" cy="246380"/>
            </a:xfrm>
            <a:custGeom>
              <a:avLst/>
              <a:gdLst/>
              <a:ahLst/>
              <a:cxnLst/>
              <a:rect r="r" b="b" t="t" l="l"/>
              <a:pathLst>
                <a:path h="246380" w="1022477">
                  <a:moveTo>
                    <a:pt x="1022477" y="51848"/>
                  </a:moveTo>
                  <a:lnTo>
                    <a:pt x="1022477" y="194532"/>
                  </a:lnTo>
                  <a:cubicBezTo>
                    <a:pt x="1022477" y="223167"/>
                    <a:pt x="999264" y="246380"/>
                    <a:pt x="970629" y="246380"/>
                  </a:cubicBezTo>
                  <a:lnTo>
                    <a:pt x="51848" y="246380"/>
                  </a:lnTo>
                  <a:cubicBezTo>
                    <a:pt x="23213" y="246380"/>
                    <a:pt x="0" y="223167"/>
                    <a:pt x="0" y="194532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lnTo>
                    <a:pt x="970629" y="0"/>
                  </a:lnTo>
                  <a:cubicBezTo>
                    <a:pt x="984380" y="0"/>
                    <a:pt x="997568" y="5463"/>
                    <a:pt x="1007291" y="15186"/>
                  </a:cubicBezTo>
                  <a:cubicBezTo>
                    <a:pt x="1017014" y="24909"/>
                    <a:pt x="1022477" y="38097"/>
                    <a:pt x="1022477" y="51848"/>
                  </a:cubicBezTo>
                  <a:close/>
                </a:path>
              </a:pathLst>
            </a:custGeom>
            <a:ln w="66675" cap="rnd">
              <a:solidFill>
                <a:srgbClr val="004E7A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22477" cy="30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4"/>
                </a:lnSpc>
              </a:pPr>
              <a:r>
                <a:rPr lang="en-US" sz="2481" spc="-49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06 - EVALUATION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41337"/>
            <a:ext cx="16230600" cy="5416963"/>
          </a:xfrm>
          <a:custGeom>
            <a:avLst/>
            <a:gdLst/>
            <a:ahLst/>
            <a:cxnLst/>
            <a:rect r="r" b="b" t="t" l="l"/>
            <a:pathLst>
              <a:path h="5416963" w="16230600">
                <a:moveTo>
                  <a:pt x="0" y="0"/>
                </a:moveTo>
                <a:lnTo>
                  <a:pt x="16230600" y="0"/>
                </a:lnTo>
                <a:lnTo>
                  <a:pt x="16230600" y="5416963"/>
                </a:lnTo>
                <a:lnTo>
                  <a:pt x="0" y="541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53460" y="670424"/>
            <a:ext cx="7805840" cy="255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9"/>
              </a:lnSpc>
            </a:pPr>
            <a:r>
              <a:rPr lang="en-US" sz="15013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PREPROCESSING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65637"/>
            <a:ext cx="9415145" cy="4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Green channel → CLAHE → Median fIlter → SegmentatIon mask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754426" y="2818410"/>
            <a:ext cx="679749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139915" y="5955702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7"/>
                </a:lnTo>
                <a:lnTo>
                  <a:pt x="11148085" y="4914447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90585"/>
            <a:ext cx="9558592" cy="3670011"/>
          </a:xfrm>
          <a:custGeom>
            <a:avLst/>
            <a:gdLst/>
            <a:ahLst/>
            <a:cxnLst/>
            <a:rect r="r" b="b" t="t" l="l"/>
            <a:pathLst>
              <a:path h="3670011" w="9558592">
                <a:moveTo>
                  <a:pt x="0" y="0"/>
                </a:moveTo>
                <a:lnTo>
                  <a:pt x="9558592" y="0"/>
                </a:lnTo>
                <a:lnTo>
                  <a:pt x="9558592" y="3670011"/>
                </a:lnTo>
                <a:lnTo>
                  <a:pt x="0" y="3670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16" t="0" r="-15897" b="-389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03617"/>
            <a:ext cx="9558592" cy="130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0"/>
              </a:lnSpc>
            </a:pPr>
            <a:r>
              <a:rPr lang="en-US" sz="12013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Optic Disc Detection &amp; Segmentation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4426" y="2713635"/>
            <a:ext cx="6855981" cy="47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4"/>
              </a:lnSpc>
            </a:pPr>
            <a:r>
              <a:rPr lang="en-US" sz="6981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Algorithm logic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Use red channel for bright OD search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Mask black background / field-of-view edges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Apply strong Gaussian blur to suppress vessels and lesions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Pick brightest location as OD center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Segment local ROI using Otsu + morphology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988512" y="3188502"/>
            <a:ext cx="689616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139915" y="5955702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7"/>
                </a:lnTo>
                <a:lnTo>
                  <a:pt x="11148085" y="4914447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91682" y="3513777"/>
            <a:ext cx="8867618" cy="3972708"/>
          </a:xfrm>
          <a:custGeom>
            <a:avLst/>
            <a:gdLst/>
            <a:ahLst/>
            <a:cxnLst/>
            <a:rect r="r" b="b" t="t" l="l"/>
            <a:pathLst>
              <a:path h="3972708" w="8867618">
                <a:moveTo>
                  <a:pt x="0" y="0"/>
                </a:moveTo>
                <a:lnTo>
                  <a:pt x="8867618" y="0"/>
                </a:lnTo>
                <a:lnTo>
                  <a:pt x="8867618" y="3972708"/>
                </a:lnTo>
                <a:lnTo>
                  <a:pt x="0" y="3972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49" t="0" r="-10794" b="-262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40296" y="1786604"/>
            <a:ext cx="6019004" cy="160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97"/>
              </a:lnSpc>
            </a:pPr>
            <a:r>
              <a:rPr lang="en-US" sz="14796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Fovea Localization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64677"/>
            <a:ext cx="6855981" cy="430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4"/>
              </a:lnSpc>
            </a:pPr>
            <a:r>
              <a:rPr lang="en-US" sz="6981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How it works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Use detected OD center as anchor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Decide left/right eye by OD position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Create a horizontal search window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Blur the search region aggressively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Remove unsafe edge areas using FOV mask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Select the darkest point as fovea center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028700" y="4098617"/>
            <a:ext cx="955024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139915" y="5955702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7"/>
                </a:lnTo>
                <a:lnTo>
                  <a:pt x="11148085" y="4914447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75702"/>
            <a:ext cx="9550245" cy="2941915"/>
          </a:xfrm>
          <a:custGeom>
            <a:avLst/>
            <a:gdLst/>
            <a:ahLst/>
            <a:cxnLst/>
            <a:rect r="r" b="b" t="t" l="l"/>
            <a:pathLst>
              <a:path h="2941915" w="9550245">
                <a:moveTo>
                  <a:pt x="0" y="0"/>
                </a:moveTo>
                <a:lnTo>
                  <a:pt x="9550245" y="0"/>
                </a:lnTo>
                <a:lnTo>
                  <a:pt x="9550245" y="2941915"/>
                </a:lnTo>
                <a:lnTo>
                  <a:pt x="0" y="2941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550408"/>
            <a:ext cx="9550245" cy="2941915"/>
          </a:xfrm>
          <a:custGeom>
            <a:avLst/>
            <a:gdLst/>
            <a:ahLst/>
            <a:cxnLst/>
            <a:rect r="r" b="b" t="t" l="l"/>
            <a:pathLst>
              <a:path h="2941915" w="9550245">
                <a:moveTo>
                  <a:pt x="0" y="0"/>
                </a:moveTo>
                <a:lnTo>
                  <a:pt x="9550245" y="0"/>
                </a:lnTo>
                <a:lnTo>
                  <a:pt x="9550245" y="2941915"/>
                </a:lnTo>
                <a:lnTo>
                  <a:pt x="0" y="2941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25543" y="1329794"/>
            <a:ext cx="5090899" cy="813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4"/>
              </a:lnSpc>
            </a:pPr>
            <a:r>
              <a:rPr lang="en-US" sz="21004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Visual Results Gallery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93842"/>
            <a:ext cx="9775602" cy="230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5342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How to read the examples</a:t>
            </a:r>
          </a:p>
          <a:p>
            <a:pPr algn="l" marL="410069" indent="-205035" lvl="1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Left </a:t>
            </a:r>
            <a:r>
              <a:rPr lang="en-US" sz="1899" spc="-37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side: original fundus image with ground truth and predicted centers.</a:t>
            </a:r>
          </a:p>
          <a:p>
            <a:pPr algn="l" marL="410069" indent="-205035" lvl="1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Right side: preprocessed image with detected centers.</a:t>
            </a:r>
          </a:p>
          <a:p>
            <a:pPr algn="l" marL="410069" indent="-205035" lvl="1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Close OD GT and OD Pred markers indicate successful optic disc localization.</a:t>
            </a:r>
          </a:p>
          <a:p>
            <a:pPr algn="l" marL="410069" indent="-205035" lvl="1">
              <a:lnSpc>
                <a:spcPts val="2659"/>
              </a:lnSpc>
              <a:buFont typeface="Arial"/>
              <a:buChar char="•"/>
            </a:pPr>
            <a:r>
              <a:rPr lang="en-US" sz="1899" spc="-37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Fovea can be more sensitive to lesions and low contrast.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60023" y="2566155"/>
            <a:ext cx="12967954" cy="3994726"/>
          </a:xfrm>
          <a:custGeom>
            <a:avLst/>
            <a:gdLst/>
            <a:ahLst/>
            <a:cxnLst/>
            <a:rect r="r" b="b" t="t" l="l"/>
            <a:pathLst>
              <a:path h="3994726" w="12967954">
                <a:moveTo>
                  <a:pt x="0" y="0"/>
                </a:moveTo>
                <a:lnTo>
                  <a:pt x="12967954" y="0"/>
                </a:lnTo>
                <a:lnTo>
                  <a:pt x="12967954" y="3994726"/>
                </a:lnTo>
                <a:lnTo>
                  <a:pt x="0" y="3994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0597"/>
            <a:ext cx="7719745" cy="150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0"/>
              </a:lnSpc>
            </a:pPr>
            <a:r>
              <a:rPr lang="en-US" sz="13734" spc="-274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A MORE CHALLENGING EXAMPLE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6667517"/>
            <a:ext cx="6019104" cy="935260"/>
            <a:chOff x="0" y="0"/>
            <a:chExt cx="1585233" cy="2463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442"/>
                  </a:moveTo>
                  <a:lnTo>
                    <a:pt x="1585233" y="212938"/>
                  </a:lnTo>
                  <a:cubicBezTo>
                    <a:pt x="1585233" y="231408"/>
                    <a:pt x="1570261" y="246380"/>
                    <a:pt x="1551791" y="246380"/>
                  </a:cubicBezTo>
                  <a:lnTo>
                    <a:pt x="33442" y="246380"/>
                  </a:lnTo>
                  <a:cubicBezTo>
                    <a:pt x="14972" y="246380"/>
                    <a:pt x="0" y="231408"/>
                    <a:pt x="0" y="212938"/>
                  </a:cubicBezTo>
                  <a:lnTo>
                    <a:pt x="0" y="33442"/>
                  </a:lnTo>
                  <a:cubicBezTo>
                    <a:pt x="0" y="14972"/>
                    <a:pt x="14972" y="0"/>
                    <a:pt x="33442" y="0"/>
                  </a:cubicBezTo>
                  <a:lnTo>
                    <a:pt x="1551791" y="0"/>
                  </a:lnTo>
                  <a:cubicBezTo>
                    <a:pt x="1560661" y="0"/>
                    <a:pt x="1569167" y="3523"/>
                    <a:pt x="1575438" y="9795"/>
                  </a:cubicBezTo>
                  <a:cubicBezTo>
                    <a:pt x="1581710" y="16066"/>
                    <a:pt x="1585233" y="24573"/>
                    <a:pt x="1585233" y="33442"/>
                  </a:cubicBezTo>
                  <a:close/>
                </a:path>
              </a:pathLst>
            </a:custGeom>
            <a:ln w="66675" cap="rnd">
              <a:solidFill>
                <a:srgbClr val="A0562C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A0562C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Observation 1 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OD is still easier because it is a bright anatomical structure.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03907" y="7729094"/>
            <a:ext cx="6889077" cy="935260"/>
            <a:chOff x="0" y="0"/>
            <a:chExt cx="1814355" cy="246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4355" cy="246380"/>
            </a:xfrm>
            <a:custGeom>
              <a:avLst/>
              <a:gdLst/>
              <a:ahLst/>
              <a:cxnLst/>
              <a:rect r="r" b="b" t="t" l="l"/>
              <a:pathLst>
                <a:path h="246380" w="1814355">
                  <a:moveTo>
                    <a:pt x="1814355" y="29219"/>
                  </a:moveTo>
                  <a:lnTo>
                    <a:pt x="1814355" y="217161"/>
                  </a:lnTo>
                  <a:cubicBezTo>
                    <a:pt x="1814355" y="224911"/>
                    <a:pt x="1811277" y="232342"/>
                    <a:pt x="1805797" y="237822"/>
                  </a:cubicBezTo>
                  <a:cubicBezTo>
                    <a:pt x="1800318" y="243302"/>
                    <a:pt x="1792886" y="246380"/>
                    <a:pt x="1785136" y="246380"/>
                  </a:cubicBezTo>
                  <a:lnTo>
                    <a:pt x="29219" y="246380"/>
                  </a:lnTo>
                  <a:cubicBezTo>
                    <a:pt x="21469" y="246380"/>
                    <a:pt x="14038" y="243302"/>
                    <a:pt x="8558" y="237822"/>
                  </a:cubicBezTo>
                  <a:cubicBezTo>
                    <a:pt x="3078" y="232342"/>
                    <a:pt x="0" y="224911"/>
                    <a:pt x="0" y="217161"/>
                  </a:cubicBezTo>
                  <a:lnTo>
                    <a:pt x="0" y="29219"/>
                  </a:lnTo>
                  <a:cubicBezTo>
                    <a:pt x="0" y="21469"/>
                    <a:pt x="3078" y="14038"/>
                    <a:pt x="8558" y="8558"/>
                  </a:cubicBezTo>
                  <a:cubicBezTo>
                    <a:pt x="14038" y="3078"/>
                    <a:pt x="21469" y="0"/>
                    <a:pt x="29219" y="0"/>
                  </a:cubicBezTo>
                  <a:lnTo>
                    <a:pt x="1785136" y="0"/>
                  </a:lnTo>
                  <a:cubicBezTo>
                    <a:pt x="1792886" y="0"/>
                    <a:pt x="1800318" y="3078"/>
                    <a:pt x="1805797" y="8558"/>
                  </a:cubicBezTo>
                  <a:cubicBezTo>
                    <a:pt x="1811277" y="14038"/>
                    <a:pt x="1814355" y="21469"/>
                    <a:pt x="1814355" y="29219"/>
                  </a:cubicBezTo>
                  <a:close/>
                </a:path>
              </a:pathLst>
            </a:custGeom>
            <a:ln w="66675" cap="rnd">
              <a:solidFill>
                <a:srgbClr val="CCA3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14355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CCA300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Observation 2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Dark lesions or low contrast can confuse darkest-point fovea search.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70223" y="8790670"/>
            <a:ext cx="6889077" cy="935260"/>
            <a:chOff x="0" y="0"/>
            <a:chExt cx="1814355" cy="2463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4355" cy="246380"/>
            </a:xfrm>
            <a:custGeom>
              <a:avLst/>
              <a:gdLst/>
              <a:ahLst/>
              <a:cxnLst/>
              <a:rect r="r" b="b" t="t" l="l"/>
              <a:pathLst>
                <a:path h="246380" w="1814355">
                  <a:moveTo>
                    <a:pt x="1814355" y="29219"/>
                  </a:moveTo>
                  <a:lnTo>
                    <a:pt x="1814355" y="217161"/>
                  </a:lnTo>
                  <a:cubicBezTo>
                    <a:pt x="1814355" y="224911"/>
                    <a:pt x="1811277" y="232342"/>
                    <a:pt x="1805797" y="237822"/>
                  </a:cubicBezTo>
                  <a:cubicBezTo>
                    <a:pt x="1800318" y="243302"/>
                    <a:pt x="1792886" y="246380"/>
                    <a:pt x="1785136" y="246380"/>
                  </a:cubicBezTo>
                  <a:lnTo>
                    <a:pt x="29219" y="246380"/>
                  </a:lnTo>
                  <a:cubicBezTo>
                    <a:pt x="21469" y="246380"/>
                    <a:pt x="14038" y="243302"/>
                    <a:pt x="8558" y="237822"/>
                  </a:cubicBezTo>
                  <a:cubicBezTo>
                    <a:pt x="3078" y="232342"/>
                    <a:pt x="0" y="224911"/>
                    <a:pt x="0" y="217161"/>
                  </a:cubicBezTo>
                  <a:lnTo>
                    <a:pt x="0" y="29219"/>
                  </a:lnTo>
                  <a:cubicBezTo>
                    <a:pt x="0" y="21469"/>
                    <a:pt x="3078" y="14038"/>
                    <a:pt x="8558" y="8558"/>
                  </a:cubicBezTo>
                  <a:cubicBezTo>
                    <a:pt x="14038" y="3078"/>
                    <a:pt x="21469" y="0"/>
                    <a:pt x="29219" y="0"/>
                  </a:cubicBezTo>
                  <a:lnTo>
                    <a:pt x="1785136" y="0"/>
                  </a:lnTo>
                  <a:cubicBezTo>
                    <a:pt x="1792886" y="0"/>
                    <a:pt x="1800318" y="3078"/>
                    <a:pt x="1805797" y="8558"/>
                  </a:cubicBezTo>
                  <a:cubicBezTo>
                    <a:pt x="1811277" y="14038"/>
                    <a:pt x="1814355" y="21469"/>
                    <a:pt x="1814355" y="29219"/>
                  </a:cubicBezTo>
                  <a:close/>
                </a:path>
              </a:pathLst>
            </a:custGeom>
            <a:ln w="66675" cap="rnd">
              <a:solidFill>
                <a:srgbClr val="007A3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14355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007A3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Takeaway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The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 method is explainable, but rule-based localization has limits.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492740" y="104775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571625"/>
            <a:ext cx="7462216" cy="13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5"/>
              </a:lnSpc>
            </a:pPr>
            <a:r>
              <a:rPr lang="en-US" sz="12714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LOCALIZATION PERFORMANCE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168689" y="1601700"/>
            <a:ext cx="12528749" cy="3006900"/>
            <a:chOff x="0" y="0"/>
            <a:chExt cx="16704999" cy="400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04999" cy="4009200"/>
            </a:xfrm>
            <a:custGeom>
              <a:avLst/>
              <a:gdLst/>
              <a:ahLst/>
              <a:cxnLst/>
              <a:rect r="r" b="b" t="t" l="l"/>
              <a:pathLst>
                <a:path h="4009200" w="16704999">
                  <a:moveTo>
                    <a:pt x="0" y="0"/>
                  </a:moveTo>
                  <a:lnTo>
                    <a:pt x="16704999" y="0"/>
                  </a:lnTo>
                  <a:lnTo>
                    <a:pt x="16704999" y="4009200"/>
                  </a:lnTo>
                  <a:lnTo>
                    <a:pt x="0" y="400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73951" y="2150425"/>
              <a:ext cx="1754837" cy="1711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0"/>
                </a:lnSpc>
              </a:pPr>
              <a:r>
                <a:rPr lang="en-US" sz="8174" spc="-163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172 PX</a:t>
              </a:r>
            </a:p>
            <a:p>
              <a:pPr algn="ctr">
                <a:lnSpc>
                  <a:spcPts val="3230"/>
                </a:lnSpc>
              </a:pP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Mean OD error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930875" y="545535"/>
              <a:ext cx="1913117" cy="1711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0"/>
                </a:lnSpc>
              </a:pPr>
              <a:r>
                <a:rPr lang="en-US" sz="8174" spc="-163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259 PX</a:t>
              </a:r>
            </a:p>
            <a:p>
              <a:pPr algn="ctr">
                <a:lnSpc>
                  <a:spcPts val="3230"/>
                </a:lnSpc>
              </a:pP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Mean fovea error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734278" y="2134310"/>
              <a:ext cx="1929231" cy="1711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0"/>
                </a:lnSpc>
              </a:pPr>
              <a:r>
                <a:rPr lang="en-US" sz="8174" spc="-163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90.3%</a:t>
              </a:r>
            </a:p>
            <a:p>
              <a:pPr algn="ctr">
                <a:lnSpc>
                  <a:spcPts val="3230"/>
                </a:lnSpc>
              </a:pP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OD</a:t>
              </a: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 ≤ 200 px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631716" y="513066"/>
              <a:ext cx="1913117" cy="1711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0"/>
                </a:lnSpc>
              </a:pPr>
              <a:r>
                <a:rPr lang="en-US" sz="8174" spc="-163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64.2%</a:t>
              </a:r>
            </a:p>
            <a:p>
              <a:pPr algn="ctr">
                <a:lnSpc>
                  <a:spcPts val="3230"/>
                </a:lnSpc>
              </a:pP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F</a:t>
              </a:r>
              <a:r>
                <a:rPr lang="en-US" sz="4306" spc="-86">
                  <a:solidFill>
                    <a:srgbClr val="2C226F"/>
                  </a:solidFill>
                  <a:latin typeface="TT Trailers"/>
                  <a:ea typeface="TT Trailers"/>
                  <a:cs typeface="TT Trailers"/>
                  <a:sym typeface="TT Trailers"/>
                </a:rPr>
                <a:t>ovea ≤ 100 px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44637" y="5143500"/>
            <a:ext cx="8648103" cy="4282870"/>
          </a:xfrm>
          <a:custGeom>
            <a:avLst/>
            <a:gdLst/>
            <a:ahLst/>
            <a:cxnLst/>
            <a:rect r="r" b="b" t="t" l="l"/>
            <a:pathLst>
              <a:path h="4282870" w="8648103">
                <a:moveTo>
                  <a:pt x="0" y="0"/>
                </a:moveTo>
                <a:lnTo>
                  <a:pt x="8648103" y="0"/>
                </a:lnTo>
                <a:lnTo>
                  <a:pt x="8648103" y="4282870"/>
                </a:lnTo>
                <a:lnTo>
                  <a:pt x="0" y="4282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47625" cap="sq">
            <a:solidFill>
              <a:srgbClr val="CAD0D6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985590" y="5143500"/>
            <a:ext cx="6836120" cy="4282870"/>
          </a:xfrm>
          <a:custGeom>
            <a:avLst/>
            <a:gdLst/>
            <a:ahLst/>
            <a:cxnLst/>
            <a:rect r="r" b="b" t="t" l="l"/>
            <a:pathLst>
              <a:path h="4282870" w="6836120">
                <a:moveTo>
                  <a:pt x="0" y="0"/>
                </a:moveTo>
                <a:lnTo>
                  <a:pt x="6836120" y="0"/>
                </a:lnTo>
                <a:lnTo>
                  <a:pt x="6836120" y="4282870"/>
                </a:lnTo>
                <a:lnTo>
                  <a:pt x="0" y="4282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FFFFFF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028700" y="3420235"/>
            <a:ext cx="685598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139915" y="5955702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7"/>
                </a:lnTo>
                <a:lnTo>
                  <a:pt x="11148085" y="4914447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87263" y="3629685"/>
            <a:ext cx="8435364" cy="4671083"/>
          </a:xfrm>
          <a:custGeom>
            <a:avLst/>
            <a:gdLst/>
            <a:ahLst/>
            <a:cxnLst/>
            <a:rect r="r" b="b" t="t" l="l"/>
            <a:pathLst>
              <a:path h="4671083" w="8435364">
                <a:moveTo>
                  <a:pt x="0" y="0"/>
                </a:moveTo>
                <a:lnTo>
                  <a:pt x="8435364" y="0"/>
                </a:lnTo>
                <a:lnTo>
                  <a:pt x="8435364" y="4671083"/>
                </a:lnTo>
                <a:lnTo>
                  <a:pt x="0" y="4671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" t="0" r="-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50591" y="1590675"/>
            <a:ext cx="8708709" cy="1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2"/>
              </a:lnSpc>
            </a:pPr>
            <a:r>
              <a:rPr lang="en-US" sz="12963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OD Segmentation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96410"/>
            <a:ext cx="6855981" cy="521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4"/>
              </a:lnSpc>
            </a:pPr>
            <a:r>
              <a:rPr lang="en-US" sz="6981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Result interpretation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M</a:t>
            </a: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ean recall is high (~0.713): the OD region is often covered.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Mean precision is lower (~0.191): masks can include false positives.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Mean F-score / Dice is ~0.286 and mean IoU is ~0.181.</a:t>
            </a:r>
          </a:p>
          <a:p>
            <a:pPr algn="l" marL="535863" indent="-267932" lvl="1">
              <a:lnSpc>
                <a:spcPts val="3474"/>
              </a:lnSpc>
              <a:buFont typeface="Arial"/>
              <a:buChar char="•"/>
            </a:pPr>
            <a:r>
              <a:rPr lang="en-US" sz="2481" spc="-4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Center localization is stronger than exact boundary extraction.</a:t>
            </a:r>
          </a:p>
          <a:p>
            <a:pPr algn="l">
              <a:lnSpc>
                <a:spcPts val="347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89608"/>
            <a:ext cx="9076956" cy="5105788"/>
          </a:xfrm>
          <a:custGeom>
            <a:avLst/>
            <a:gdLst/>
            <a:ahLst/>
            <a:cxnLst/>
            <a:rect r="r" b="b" t="t" l="l"/>
            <a:pathLst>
              <a:path h="5105788" w="9076956">
                <a:moveTo>
                  <a:pt x="0" y="0"/>
                </a:moveTo>
                <a:lnTo>
                  <a:pt x="9076956" y="0"/>
                </a:lnTo>
                <a:lnTo>
                  <a:pt x="9076956" y="5105788"/>
                </a:lnTo>
                <a:lnTo>
                  <a:pt x="0" y="5105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04950"/>
            <a:ext cx="7987214" cy="118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10958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Image Processing Techniques Used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25257" y="2624278"/>
            <a:ext cx="5934316" cy="922085"/>
            <a:chOff x="0" y="0"/>
            <a:chExt cx="1585233" cy="2463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A0562C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Color space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RGB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 channels, green-channel extraction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25257" y="3696772"/>
            <a:ext cx="5934316" cy="922085"/>
            <a:chOff x="0" y="0"/>
            <a:chExt cx="1585233" cy="246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457A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Enhancement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CLAHE,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 illumination handling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25257" y="4771258"/>
            <a:ext cx="5934316" cy="922085"/>
            <a:chOff x="0" y="0"/>
            <a:chExt cx="1585233" cy="2463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007A3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Filtering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Gaussi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an blur, median filter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5257" y="5845743"/>
            <a:ext cx="5934316" cy="922085"/>
            <a:chOff x="0" y="0"/>
            <a:chExt cx="1585233" cy="2463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11676A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Morphology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C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losing, hole filling, connected components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25257" y="6920228"/>
            <a:ext cx="5934316" cy="922085"/>
            <a:chOff x="0" y="0"/>
            <a:chExt cx="1585233" cy="246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004E7A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Thresholding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Per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centile threshold, Otsu threshold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25257" y="7994713"/>
            <a:ext cx="5934316" cy="922085"/>
            <a:chOff x="0" y="0"/>
            <a:chExt cx="1585233" cy="2463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5233" cy="246380"/>
            </a:xfrm>
            <a:custGeom>
              <a:avLst/>
              <a:gdLst/>
              <a:ahLst/>
              <a:cxnLst/>
              <a:rect r="r" b="b" t="t" l="l"/>
              <a:pathLst>
                <a:path h="246380" w="1585233">
                  <a:moveTo>
                    <a:pt x="1585233" y="33920"/>
                  </a:moveTo>
                  <a:lnTo>
                    <a:pt x="1585233" y="212460"/>
                  </a:lnTo>
                  <a:cubicBezTo>
                    <a:pt x="1585233" y="221456"/>
                    <a:pt x="1581659" y="230084"/>
                    <a:pt x="1575298" y="236445"/>
                  </a:cubicBezTo>
                  <a:cubicBezTo>
                    <a:pt x="1568937" y="242806"/>
                    <a:pt x="1560310" y="246380"/>
                    <a:pt x="1551313" y="246380"/>
                  </a:cubicBezTo>
                  <a:lnTo>
                    <a:pt x="33920" y="246380"/>
                  </a:lnTo>
                  <a:cubicBezTo>
                    <a:pt x="15186" y="246380"/>
                    <a:pt x="0" y="231194"/>
                    <a:pt x="0" y="212460"/>
                  </a:cubicBezTo>
                  <a:lnTo>
                    <a:pt x="0" y="33920"/>
                  </a:lnTo>
                  <a:cubicBezTo>
                    <a:pt x="0" y="24924"/>
                    <a:pt x="3574" y="16296"/>
                    <a:pt x="9935" y="9935"/>
                  </a:cubicBezTo>
                  <a:cubicBezTo>
                    <a:pt x="16296" y="3574"/>
                    <a:pt x="24924" y="0"/>
                    <a:pt x="33920" y="0"/>
                  </a:cubicBezTo>
                  <a:lnTo>
                    <a:pt x="1551313" y="0"/>
                  </a:lnTo>
                  <a:cubicBezTo>
                    <a:pt x="1560310" y="0"/>
                    <a:pt x="1568937" y="3574"/>
                    <a:pt x="1575298" y="9935"/>
                  </a:cubicBezTo>
                  <a:cubicBezTo>
                    <a:pt x="1581659" y="16296"/>
                    <a:pt x="1585233" y="24924"/>
                    <a:pt x="1585233" y="33920"/>
                  </a:cubicBezTo>
                  <a:close/>
                </a:path>
              </a:pathLst>
            </a:custGeom>
            <a:ln w="66675" cap="rnd">
              <a:solidFill>
                <a:srgbClr val="401268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85233" cy="294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54"/>
                </a:lnSpc>
              </a:pPr>
              <a:r>
                <a:rPr lang="en-US" sz="2182" spc="-43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Evaluation</a:t>
              </a:r>
            </a:p>
            <a:p>
              <a:pPr algn="l">
                <a:lnSpc>
                  <a:spcPts val="2214"/>
                </a:lnSpc>
              </a:pP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Dist</a:t>
              </a:r>
              <a:r>
                <a:rPr lang="en-US" sz="1582" spc="-31">
                  <a:solidFill>
                    <a:srgbClr val="FFFFFF"/>
                  </a:solidFill>
                  <a:latin typeface="Klein"/>
                  <a:ea typeface="Klein"/>
                  <a:cs typeface="Klein"/>
                  <a:sym typeface="Klein"/>
                </a:rPr>
                <a:t>ance error, Precision, Recall, Dice, IoU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6410" y="3393993"/>
            <a:ext cx="0" cy="43015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7139915" y="5955702"/>
            <a:ext cx="11148085" cy="4914447"/>
          </a:xfrm>
          <a:custGeom>
            <a:avLst/>
            <a:gdLst/>
            <a:ahLst/>
            <a:cxnLst/>
            <a:rect r="r" b="b" t="t" l="l"/>
            <a:pathLst>
              <a:path h="4914447" w="11148085">
                <a:moveTo>
                  <a:pt x="11148085" y="0"/>
                </a:moveTo>
                <a:lnTo>
                  <a:pt x="0" y="0"/>
                </a:lnTo>
                <a:lnTo>
                  <a:pt x="0" y="4914447"/>
                </a:lnTo>
                <a:lnTo>
                  <a:pt x="11148085" y="4914447"/>
                </a:lnTo>
                <a:lnTo>
                  <a:pt x="111480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2603" y="1250192"/>
            <a:ext cx="7662795" cy="131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12079" spc="277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Limitations &amp;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6861" y="3362549"/>
            <a:ext cx="4347535" cy="441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7"/>
              </a:lnSpc>
            </a:pPr>
            <a:r>
              <a:rPr lang="en-US" sz="5933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Current limitations</a:t>
            </a:r>
          </a:p>
          <a:p>
            <a:pPr algn="l" marL="455415" indent="-227708" lvl="1">
              <a:lnSpc>
                <a:spcPts val="2953"/>
              </a:lnSpc>
              <a:buFont typeface="Arial"/>
              <a:buChar char="•"/>
            </a:pP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OD bound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ar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es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are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no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always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p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re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ise</a:t>
            </a:r>
          </a:p>
          <a:p>
            <a:pPr algn="l" marL="455415" indent="-227708" lvl="1">
              <a:lnSpc>
                <a:spcPts val="2953"/>
              </a:lnSpc>
              <a:buFont typeface="Arial"/>
              <a:buChar char="•"/>
            </a:pP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F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ovea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lo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al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zat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ion is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nsitive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to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ion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 and l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ow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ra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</a:t>
            </a:r>
          </a:p>
          <a:p>
            <a:pPr algn="l" marL="455415" indent="-227708" lvl="1">
              <a:lnSpc>
                <a:spcPts val="2953"/>
              </a:lnSpc>
              <a:buFont typeface="Arial"/>
              <a:buChar char="•"/>
            </a:pP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H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d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-cr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aft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d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thr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hol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d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ma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y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g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eneraliz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 perfec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ly</a:t>
            </a:r>
          </a:p>
          <a:p>
            <a:pPr algn="l" marL="455415" indent="-227708" lvl="1">
              <a:lnSpc>
                <a:spcPts val="2953"/>
              </a:lnSpc>
              <a:buFont typeface="Arial"/>
              <a:buChar char="•"/>
            </a:pP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Very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br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ght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le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i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an a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ffe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ct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OD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gmen</a:t>
            </a:r>
            <a:r>
              <a:rPr lang="en-US" sz="2109" spc="-42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tation</a:t>
            </a:r>
          </a:p>
          <a:p>
            <a:pPr algn="l">
              <a:lnSpc>
                <a:spcPts val="29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28425" y="3588373"/>
            <a:ext cx="5581801" cy="395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6390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Future improvements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Ad</a:t>
            </a: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aptive ROI refinement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Better vessel / lesion suppression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Contour-based boundary correction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Comparison with learning-based baselines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Parameter tuning per image quality</a:t>
            </a:r>
          </a:p>
          <a:p>
            <a:pPr algn="l">
              <a:lnSpc>
                <a:spcPts val="31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734254" y="3387842"/>
            <a:ext cx="5596885" cy="435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6390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Conclusion</a:t>
            </a:r>
          </a:p>
          <a:p>
            <a:pPr algn="l" marL="490504" indent="-245252" lvl="1">
              <a:lnSpc>
                <a:spcPts val="3180"/>
              </a:lnSpc>
              <a:buFont typeface="Arial"/>
              <a:buChar char="•"/>
            </a:pP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Th</a:t>
            </a:r>
            <a:r>
              <a:rPr lang="en-US" sz="2271" spc="-45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e project demonstrates that an explainable classical pipeline can localize key retinal landmarks, especially optic disc center, while revealing the limitations of rule-based segmentation and fovea estimation.</a:t>
            </a:r>
          </a:p>
          <a:p>
            <a:pPr algn="l">
              <a:lnSpc>
                <a:spcPts val="318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11519776" y="3393993"/>
            <a:ext cx="0" cy="43015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3181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3029" y="2264006"/>
            <a:ext cx="10541942" cy="728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6"/>
              </a:lnSpc>
            </a:pPr>
            <a:r>
              <a:rPr lang="en-US" sz="35568" spc="-711">
                <a:solidFill>
                  <a:srgbClr val="FFFFFF"/>
                </a:solidFill>
                <a:latin typeface="TT Trailers"/>
                <a:ea typeface="TT Trailers"/>
                <a:cs typeface="TT Trailers"/>
                <a:sym typeface="TT Trailers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DAHIs9tFsWY</dc:identifier>
  <dcterms:modified xsi:type="dcterms:W3CDTF">2011-08-01T06:04:30Z</dcterms:modified>
  <cp:revision>1</cp:revision>
  <dc:title>Mavi ve Beyaz Tipografik Proje Tanıtım Sunumu</dc:title>
</cp:coreProperties>
</file>